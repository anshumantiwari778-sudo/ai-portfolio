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ln w="12700">
            <a:solidFill>
              <a:srgbClr val="3A4A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34440" y="-1234440"/>
            <a:ext cx="2468880" cy="2468880"/>
          </a:xfrm>
          <a:prstGeom prst="ellipse">
            <a:avLst/>
          </a:prstGeom>
          <a:ln w="12700">
            <a:solidFill>
              <a:srgbClr val="3A4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-1188720"/>
            <a:ext cx="2377440" cy="2377440"/>
          </a:xfrm>
          <a:prstGeom prst="ellipse">
            <a:avLst/>
          </a:prstGeom>
          <a:ln w="12700">
            <a:solidFill>
              <a:srgbClr val="3A4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143000" y="-1143000"/>
            <a:ext cx="2286000" cy="2286000"/>
          </a:xfrm>
          <a:prstGeom prst="ellipse">
            <a:avLst/>
          </a:prstGeom>
          <a:ln w="12700">
            <a:solidFill>
              <a:srgbClr val="3A4A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97280" y="-1097280"/>
            <a:ext cx="2194560" cy="2194560"/>
          </a:xfrm>
          <a:prstGeom prst="ellipse">
            <a:avLst/>
          </a:prstGeom>
          <a:ln w="12700">
            <a:solidFill>
              <a:srgbClr val="3A4A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5212080"/>
            <a:ext cx="2377440" cy="2377440"/>
          </a:xfrm>
          <a:prstGeom prst="ellipse">
            <a:avLst/>
          </a:prstGeom>
          <a:solidFill>
            <a:srgbClr val="1E2E5C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5943600"/>
            <a:ext cx="1280160" cy="1280160"/>
          </a:xfrm>
          <a:prstGeom prst="ellipse">
            <a:avLst/>
          </a:prstGeom>
          <a:solidFill>
            <a:srgbClr val="24356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685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•  SEARCH &amp; REASONING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1430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Problem-Solving Agents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Problem Formulation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machine thinks before it acts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1E2E5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7490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0" descr="/home/claude/wor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3822741"/>
            <a:ext cx="419527" cy="41952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37124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60020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Mathematics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600200" y="4261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CSJM University, Kanpur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48920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E2E5C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68680" y="5303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mouse in a maze can only see what is right in front of it. A GPS app can see the whole map. Which one finds the way faster — and why?</a:t>
            </a:r>
            <a:endParaRPr lang="en-US" sz="1250" dirty="0"/>
          </a:p>
        </p:txBody>
      </p:sp>
      <p:pic>
        <p:nvPicPr>
          <p:cNvPr id="22" name="Image 1" descr="/home/claude/work/robot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52360" y="1783080"/>
            <a:ext cx="3931920" cy="32918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452360" y="553212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52360" y="55321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 ·  Search &amp; Reasoning unit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3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E2E5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E2E5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502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OPENING RIDDLE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mouse is looking for cheese in a maze.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10996" y="187452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E2E5C"/>
          </a:solidFill>
          <a:ln/>
        </p:spPr>
      </p:sp>
      <p:sp>
        <p:nvSpPr>
          <p:cNvPr id="7" name="Text 5"/>
          <p:cNvSpPr/>
          <p:nvPr/>
        </p:nvSpPr>
        <p:spPr>
          <a:xfrm>
            <a:off x="1110996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93876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it can move 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39996" y="187452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E2E5C"/>
          </a:solidFill>
          <a:ln/>
        </p:spPr>
      </p:sp>
      <p:sp>
        <p:nvSpPr>
          <p:cNvPr id="10" name="Text 8"/>
          <p:cNvSpPr/>
          <p:nvPr/>
        </p:nvSpPr>
        <p:spPr>
          <a:xfrm>
            <a:off x="4539996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22876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is a wrong turn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68996" y="187452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1E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7968996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51876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points to the cheese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3383280"/>
            <a:ext cx="926287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3611880"/>
            <a:ext cx="8531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mouse always find the cheese? </a:t>
            </a:r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which kind of AI agent — one that just reacts, or one that plans ahead — solves this maze best?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80060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question in mind — we will answer it on the last slide.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58384" y="559612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0" descr="/home/claude/work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2085" y="5669829"/>
            <a:ext cx="419527" cy="41952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19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Problem-Solving Agent?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problem-solving agent is a </a:t>
            </a:r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looks at where it is right now, and searches for a </a:t>
            </a:r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actions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gets it to its goal — instead of just reacting to whatever happens next.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6675120" cy="265176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GPS navigation app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245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location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873752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54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 you want to reach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5404104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2852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checks routes, then picks one — before you take a single turn</a:t>
            </a:r>
            <a:endParaRPr lang="en-US" sz="1350" dirty="0"/>
          </a:p>
        </p:txBody>
      </p:sp>
      <p:pic>
        <p:nvPicPr>
          <p:cNvPr id="15" name="Image 0" descr="/home/claude/work/phon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417320"/>
            <a:ext cx="2331720" cy="40233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909560" y="5623560"/>
            <a:ext cx="397764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56235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→ Search → Goal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0" name="Text 17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a Problem-Solving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work/icons/goal_dir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192993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3288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843784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it takes moves it closer to one clear goal.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60020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5623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home/claude/work/icons/search_ba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701" y="192993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3288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Search-Based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72000" y="2843784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explores several possible paths before choosing one.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60020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856232"/>
            <a:ext cx="566928" cy="566928"/>
          </a:xfrm>
          <a:prstGeom prst="ellipse">
            <a:avLst/>
          </a:prstGeom>
          <a:solidFill>
            <a:srgbClr val="F0574B"/>
          </a:solidFill>
          <a:ln/>
        </p:spPr>
      </p:sp>
      <p:pic>
        <p:nvPicPr>
          <p:cNvPr id="16" name="Image 2" descr="/home/claude/work/icons/ratio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029" y="192993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53288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39328" y="2843784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picks the action that makes the most sense.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/home/claude/work/icons/knowle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3" y="412449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2744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Knowledge-Using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" y="5038344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what it knows about the world to plan ahead.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15968" y="37947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05079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6" name="Image 4" descr="/home/claude/work/icons/determinist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701" y="412449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72744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72000" y="5038344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action, in the same state, gives the same result.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83296" y="37947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4050792"/>
            <a:ext cx="566928" cy="566928"/>
          </a:xfrm>
          <a:prstGeom prst="ellipse">
            <a:avLst/>
          </a:prstGeom>
          <a:solidFill>
            <a:srgbClr val="F0574B"/>
          </a:solidFill>
          <a:ln/>
        </p:spPr>
      </p:sp>
      <p:pic>
        <p:nvPicPr>
          <p:cNvPr id="31" name="Image 5" descr="/home/claude/work/icons/cost_aw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029" y="412449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72744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339328" y="5038344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compares paths and prefers the cheaper, shorter one.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6" name="Text 28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Problem-Solving Agent vs. General AI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2880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77440" y="1691640"/>
            <a:ext cx="44348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Agent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12280" y="1691640"/>
            <a:ext cx="443484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Agent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82880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77440" y="2194560"/>
            <a:ext cx="443484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1945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one clear, fixed goal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12280" y="2194560"/>
            <a:ext cx="443484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945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juggle several, changing goals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71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77440" y="2971800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9718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 modeled path to the goal before acting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12280" y="2971800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9718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use rules, learning, or search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182880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49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77440" y="3749040"/>
            <a:ext cx="443484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7490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known, mostly fixed world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12280" y="3749040"/>
            <a:ext cx="443484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7490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act under uncertainty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26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377440" y="4526280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45262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full map of states before it moves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12280" y="4526280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5262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act with only partial knowledge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303520"/>
            <a:ext cx="182880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303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377440" y="5303520"/>
            <a:ext cx="443484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53035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GPS route planner, an 8-puzzle solver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812280" y="5303520"/>
            <a:ext cx="443484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53035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chatbot, a self-driving car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42" name="Text 40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Problem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 means turning a real goal into a clear, well-defined problem. We decide the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actions, and costs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before the agent starts to search.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53492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/home/claude/work/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0" y="543245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5349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blueprint the search algorithm will later build on.</a:t>
            </a:r>
            <a:endParaRPr lang="en-US" sz="1150" dirty="0"/>
          </a:p>
        </p:txBody>
      </p:sp>
      <p:pic>
        <p:nvPicPr>
          <p:cNvPr id="9" name="Image 1" descr="/home/claude/work/funnel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15400" y="685800"/>
            <a:ext cx="2423160" cy="3520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0060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NECESSARY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800600" y="109728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2" descr="/home/claude/wor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016" y="1137696"/>
            <a:ext cx="230063" cy="2300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"solve the problem" means nothing to a machine.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800600" y="175564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3" descr="/home/claude/wor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016" y="1796064"/>
            <a:ext cx="230063" cy="2300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1709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formulation can make the search slow or even wrong.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800600" y="241401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4" descr="/home/claude/wor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016" y="2454432"/>
            <a:ext cx="230063" cy="2300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23682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fixes exactly what to keep, so the search stays manageable.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800600" y="3072384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5" descr="/home/claude/wor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016" y="3112800"/>
            <a:ext cx="230063" cy="2300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57800" y="30266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 search algorithm the exact structure it needs to run.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5" name="Text 17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Components of a Formal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Formally, a search problem is written as  </a:t>
            </a:r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⟨S, A, Result, s₀, Goal, c⟩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" y="246888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2697480"/>
            <a:ext cx="1965960" cy="228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3604" y="312724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0" descr="/home/claude/work/icons/initial_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814" y="3210458"/>
            <a:ext cx="473659" cy="4736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0392" y="388620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77824" y="43708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agent starts, before taking any action.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06624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926080" y="246888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26080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F5A623"/>
          </a:solidFill>
          <a:ln/>
        </p:spPr>
      </p:sp>
      <p:sp>
        <p:nvSpPr>
          <p:cNvPr id="16" name="Shape 13"/>
          <p:cNvSpPr/>
          <p:nvPr/>
        </p:nvSpPr>
        <p:spPr>
          <a:xfrm>
            <a:off x="2926080" y="2697480"/>
            <a:ext cx="1965960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0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589020" y="3127248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1" descr="/home/claude/work/icons/a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30" y="3210458"/>
            <a:ext cx="473659" cy="4736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35808" y="388620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3063240" y="43708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moves the agent can make from a given state.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92040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111496" y="246888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111496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F0574B"/>
          </a:solidFill>
          <a:ln/>
        </p:spPr>
      </p:sp>
      <p:sp>
        <p:nvSpPr>
          <p:cNvPr id="25" name="Shape 21"/>
          <p:cNvSpPr/>
          <p:nvPr/>
        </p:nvSpPr>
        <p:spPr>
          <a:xfrm>
            <a:off x="5111496" y="2697480"/>
            <a:ext cx="1965960" cy="228600"/>
          </a:xfrm>
          <a:prstGeom prst="rect">
            <a:avLst/>
          </a:prstGeom>
          <a:solidFill>
            <a:srgbClr val="F0574B"/>
          </a:solidFill>
          <a:ln/>
        </p:spPr>
      </p:sp>
      <p:sp>
        <p:nvSpPr>
          <p:cNvPr id="26" name="Text 22"/>
          <p:cNvSpPr/>
          <p:nvPr/>
        </p:nvSpPr>
        <p:spPr>
          <a:xfrm>
            <a:off x="5111496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774436" y="3127248"/>
            <a:ext cx="640080" cy="640080"/>
          </a:xfrm>
          <a:prstGeom prst="ellipse">
            <a:avLst/>
          </a:prstGeom>
          <a:solidFill>
            <a:srgbClr val="F0574B"/>
          </a:solidFill>
          <a:ln/>
        </p:spPr>
      </p:sp>
      <p:pic>
        <p:nvPicPr>
          <p:cNvPr id="28" name="Image 2" descr="/home/claude/work/icons/transi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46" y="3210458"/>
            <a:ext cx="473659" cy="47365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21224" y="388620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Model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5248656" y="43708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state results from taking an action.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7077456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7296912" y="246888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7296912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E7C86"/>
          </a:solidFill>
          <a:ln/>
        </p:spPr>
      </p:sp>
      <p:sp>
        <p:nvSpPr>
          <p:cNvPr id="34" name="Shape 29"/>
          <p:cNvSpPr/>
          <p:nvPr/>
        </p:nvSpPr>
        <p:spPr>
          <a:xfrm>
            <a:off x="7296912" y="2697480"/>
            <a:ext cx="1965960" cy="228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5" name="Text 30"/>
          <p:cNvSpPr/>
          <p:nvPr/>
        </p:nvSpPr>
        <p:spPr>
          <a:xfrm>
            <a:off x="7296912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7959852" y="312724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7" name="Image 3" descr="/home/claude/work/icons/goal_t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062" y="3210458"/>
            <a:ext cx="473659" cy="473659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406640" y="388620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7434072" y="43708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state satisfies the goal.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9262872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5"/>
          <p:cNvSpPr/>
          <p:nvPr/>
        </p:nvSpPr>
        <p:spPr>
          <a:xfrm>
            <a:off x="9482328" y="2468880"/>
            <a:ext cx="1965960" cy="28803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482328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F5A623"/>
          </a:solidFill>
          <a:ln/>
        </p:spPr>
      </p:sp>
      <p:sp>
        <p:nvSpPr>
          <p:cNvPr id="43" name="Shape 37"/>
          <p:cNvSpPr/>
          <p:nvPr/>
        </p:nvSpPr>
        <p:spPr>
          <a:xfrm>
            <a:off x="9482328" y="2697480"/>
            <a:ext cx="1965960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Text 38"/>
          <p:cNvSpPr/>
          <p:nvPr/>
        </p:nvSpPr>
        <p:spPr>
          <a:xfrm>
            <a:off x="9482328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5" name="Shape 39"/>
          <p:cNvSpPr/>
          <p:nvPr/>
        </p:nvSpPr>
        <p:spPr>
          <a:xfrm>
            <a:off x="10145268" y="3127248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6" name="Image 4" descr="/home/claude/work/icons/path_co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478" y="3210458"/>
            <a:ext cx="473659" cy="473659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592056" y="388620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Cost</a:t>
            </a:r>
            <a:endParaRPr lang="en-US" sz="1350" dirty="0"/>
          </a:p>
        </p:txBody>
      </p:sp>
      <p:sp>
        <p:nvSpPr>
          <p:cNvPr id="48" name="Text 41"/>
          <p:cNvSpPr/>
          <p:nvPr/>
        </p:nvSpPr>
        <p:spPr>
          <a:xfrm>
            <a:off x="9619488" y="43708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cost of the path taken so far.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1" name="Text 44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 &amp; Cheese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Maze</a:t>
            </a:r>
            <a:endParaRPr lang="en-US" sz="2500" dirty="0"/>
          </a:p>
        </p:txBody>
      </p:sp>
      <p:pic>
        <p:nvPicPr>
          <p:cNvPr id="5" name="Image 0" descr="/home/claude/work/maze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194560"/>
            <a:ext cx="301752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47091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892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mouse must find cheese hidden somewhere in the maze. It can smell the cheese only when it is very close.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54880" y="77724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9601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1" descr="/home/claude/work/icons/initial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216" y="1038576"/>
            <a:ext cx="446593" cy="446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8869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15000" y="121615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mouse’s starting box in the maze.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754880" y="187452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937760" y="2057400"/>
            <a:ext cx="603504" cy="60350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Image 2" descr="/home/claude/work/icons/a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216" y="2135856"/>
            <a:ext cx="446593" cy="4465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15000" y="19842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715000" y="231343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Up, Down, Left, or Right.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37760" y="3154680"/>
            <a:ext cx="603504" cy="603504"/>
          </a:xfrm>
          <a:prstGeom prst="ellipse">
            <a:avLst/>
          </a:prstGeom>
          <a:solidFill>
            <a:srgbClr val="F0574B"/>
          </a:solidFill>
          <a:ln/>
        </p:spPr>
      </p:sp>
      <p:pic>
        <p:nvPicPr>
          <p:cNvPr id="20" name="Image 3" descr="/home/claude/work/icons/transi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216" y="3233136"/>
            <a:ext cx="446593" cy="4465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15000" y="3081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Model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715000" y="341071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into the next open box.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754880" y="406908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937760" y="425196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5" name="Image 4" descr="/home/claude/work/icons/goal_t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216" y="4330416"/>
            <a:ext cx="446593" cy="4465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15000" y="4178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5715000" y="45079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mouse standing in the cheese box?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754880" y="516636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937760" y="5349240"/>
            <a:ext cx="603504" cy="60350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0" name="Image 5" descr="/home/claude/work/icons/path_co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216" y="5427696"/>
            <a:ext cx="446593" cy="4465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715000" y="52760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Cost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5715000" y="560527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for every step the mouse takes.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5" name="Text 27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8-Puzzle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tiles, one at a time, into the empty box until the numbers match the goal picture.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80744" y="2560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0744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212848" y="2560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0744" y="3392424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0744" y="33924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212848" y="3392424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33924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4224528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245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380744" y="4224528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0744" y="42245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212848" y="4224528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12848" y="42245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46120" y="306324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069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STATE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69080" y="2560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901184" y="2560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733288" y="2560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33288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4069080" y="3392424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33924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4901184" y="3392424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3924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5733288" y="3392424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33288" y="33924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4069080" y="4224528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42245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4901184" y="4224528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42245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5733288" y="4224528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1206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2960" y="5285232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 move sequence: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left, slide 8 up, slide 5 right — reaching the goal in 3 moves.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753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SOLVES IT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75320" y="932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Search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27532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looks at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arrangement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state. For each one, it adds up the steps already taken and its best guess of the steps still left.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75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expands the arrangement with the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total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it skips bad moves and reaches the goal quickly.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275320" y="51206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1E2E5C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9! / 2 = 181,440 reachable arrangements — A* still finds the shortest path fast.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3" name="Text 51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Finding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Map</a:t>
            </a:r>
            <a:endParaRPr lang="en-US" sz="2500" dirty="0"/>
          </a:p>
        </p:txBody>
      </p:sp>
      <p:pic>
        <p:nvPicPr>
          <p:cNvPr id="5" name="Image 0" descr="/home/claude/work/phon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2148840"/>
            <a:ext cx="201168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62356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E2E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623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GPS app plans a drive from Kanpur to Lucknow.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77724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9601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1" descr="/home/claude/work/icons/initial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216" y="1038576"/>
            <a:ext cx="446593" cy="446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8869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15000" y="121615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location: Kanpur.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754880" y="187452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937760" y="2057400"/>
            <a:ext cx="603504" cy="60350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Image 2" descr="/home/claude/work/icons/a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216" y="2135856"/>
            <a:ext cx="446593" cy="4465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15000" y="19842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715000" y="231343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to any directly connected city or junction.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37760" y="3154680"/>
            <a:ext cx="603504" cy="603504"/>
          </a:xfrm>
          <a:prstGeom prst="ellipse">
            <a:avLst/>
          </a:prstGeom>
          <a:solidFill>
            <a:srgbClr val="F0574B"/>
          </a:solidFill>
          <a:ln/>
        </p:spPr>
      </p:sp>
      <p:pic>
        <p:nvPicPr>
          <p:cNvPr id="20" name="Image 3" descr="/home/claude/work/icons/transi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216" y="3233136"/>
            <a:ext cx="446593" cy="4465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15000" y="3081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Model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715000" y="341071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at the next city on the route.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754880" y="406908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937760" y="425196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5" name="Image 4" descr="/home/claude/work/icons/goal_t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216" y="4330416"/>
            <a:ext cx="446593" cy="4465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15000" y="4178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5715000" y="45079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car reached Lucknow?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754880" y="5166360"/>
            <a:ext cx="690372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937760" y="5349240"/>
            <a:ext cx="603504" cy="60350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0" name="Image 5" descr="/home/claude/work/icons/path_co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6216" y="5427696"/>
            <a:ext cx="446593" cy="4465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715000" y="52760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Cost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5715000" y="560527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 travelled, in kilometres.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5" name="Text 27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658368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Problem-Solving Working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repeats these five stages, in order, until the goal is reached.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0664" y="23317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" y="23317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2532888"/>
            <a:ext cx="1965960" cy="21031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34086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2748" y="28986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0" name="Image 0" descr="/home/claude/work/icons/goal_form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581" y="2979481"/>
            <a:ext cx="460126" cy="4601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0392" y="36301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Formulation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" y="40873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counts as success.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06624" y="32461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926080" y="23317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26080" y="23317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/>
        </p:spPr>
      </p:sp>
      <p:sp>
        <p:nvSpPr>
          <p:cNvPr id="16" name="Shape 13"/>
          <p:cNvSpPr/>
          <p:nvPr/>
        </p:nvSpPr>
        <p:spPr>
          <a:xfrm>
            <a:off x="2926080" y="2532888"/>
            <a:ext cx="1965960" cy="2103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0" y="234086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598164" y="289864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1" descr="/home/claude/work/icons/problem_defin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997" y="2979481"/>
            <a:ext cx="460126" cy="46012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35808" y="36301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063240" y="40873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goal into a formal problem.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92040" y="32461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111496" y="23317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111496" y="23317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F0574B"/>
          </a:solidFill>
          <a:ln/>
        </p:spPr>
      </p:sp>
      <p:sp>
        <p:nvSpPr>
          <p:cNvPr id="25" name="Shape 21"/>
          <p:cNvSpPr/>
          <p:nvPr/>
        </p:nvSpPr>
        <p:spPr>
          <a:xfrm>
            <a:off x="5111496" y="2532888"/>
            <a:ext cx="1965960" cy="210312"/>
          </a:xfrm>
          <a:prstGeom prst="rect">
            <a:avLst/>
          </a:prstGeom>
          <a:solidFill>
            <a:srgbClr val="F0574B"/>
          </a:solidFill>
          <a:ln/>
        </p:spPr>
      </p:sp>
      <p:sp>
        <p:nvSpPr>
          <p:cNvPr id="26" name="Text 22"/>
          <p:cNvSpPr/>
          <p:nvPr/>
        </p:nvSpPr>
        <p:spPr>
          <a:xfrm>
            <a:off x="5111496" y="234086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783580" y="2898648"/>
            <a:ext cx="621792" cy="621792"/>
          </a:xfrm>
          <a:prstGeom prst="ellipse">
            <a:avLst/>
          </a:prstGeom>
          <a:solidFill>
            <a:srgbClr val="F0574B"/>
          </a:solidFill>
          <a:ln/>
        </p:spPr>
      </p:sp>
      <p:pic>
        <p:nvPicPr>
          <p:cNvPr id="28" name="Image 2" descr="/home/claude/work/icons/state_sp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413" y="2979481"/>
            <a:ext cx="460126" cy="46012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21224" y="36301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248656" y="40873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out every reachable state.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7077456" y="32461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7296912" y="23317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7296912" y="23317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0E7C86"/>
          </a:solidFill>
          <a:ln/>
        </p:spPr>
      </p:sp>
      <p:sp>
        <p:nvSpPr>
          <p:cNvPr id="34" name="Shape 29"/>
          <p:cNvSpPr/>
          <p:nvPr/>
        </p:nvSpPr>
        <p:spPr>
          <a:xfrm>
            <a:off x="7296912" y="2532888"/>
            <a:ext cx="1965960" cy="21031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5" name="Text 30"/>
          <p:cNvSpPr/>
          <p:nvPr/>
        </p:nvSpPr>
        <p:spPr>
          <a:xfrm>
            <a:off x="7296912" y="234086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7968996" y="2898648"/>
            <a:ext cx="621792" cy="62179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7" name="Image 3" descr="/home/claude/work/icons/goal_t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829" y="2979481"/>
            <a:ext cx="460126" cy="46012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406640" y="36301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7434072" y="40873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state against the goal.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262872" y="32461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5"/>
          <p:cNvSpPr/>
          <p:nvPr/>
        </p:nvSpPr>
        <p:spPr>
          <a:xfrm>
            <a:off x="9482328" y="23317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482328" y="23317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/>
        </p:spPr>
      </p:sp>
      <p:sp>
        <p:nvSpPr>
          <p:cNvPr id="43" name="Shape 37"/>
          <p:cNvSpPr/>
          <p:nvPr/>
        </p:nvSpPr>
        <p:spPr>
          <a:xfrm>
            <a:off x="9482328" y="2532888"/>
            <a:ext cx="1965960" cy="2103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Text 38"/>
          <p:cNvSpPr/>
          <p:nvPr/>
        </p:nvSpPr>
        <p:spPr>
          <a:xfrm>
            <a:off x="9482328" y="2340864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>
            <a:off x="10154412" y="289864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6" name="Image 4" descr="/home/claude/work/icons/path_co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245" y="2979481"/>
            <a:ext cx="460126" cy="46012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592056" y="36301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Cost</a:t>
            </a:r>
            <a:endParaRPr lang="en-US" sz="1250" dirty="0"/>
          </a:p>
        </p:txBody>
      </p:sp>
      <p:sp>
        <p:nvSpPr>
          <p:cNvPr id="48" name="Text 41"/>
          <p:cNvSpPr/>
          <p:nvPr/>
        </p:nvSpPr>
        <p:spPr>
          <a:xfrm>
            <a:off x="9619488" y="40873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paths, pick the cheapest.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 flipH="1">
            <a:off x="1723644" y="5212080"/>
            <a:ext cx="8741664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  <a:headEnd type="none"/>
            <a:tailEnd type="triangle"/>
          </a:ln>
        </p:spPr>
      </p:sp>
      <p:sp>
        <p:nvSpPr>
          <p:cNvPr id="50" name="Shape 43"/>
          <p:cNvSpPr/>
          <p:nvPr/>
        </p:nvSpPr>
        <p:spPr>
          <a:xfrm>
            <a:off x="10465308" y="4800600"/>
            <a:ext cx="0" cy="41148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1723644" y="4800600"/>
            <a:ext cx="0" cy="41148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4956048" y="5010912"/>
            <a:ext cx="2286000" cy="402336"/>
          </a:xfrm>
          <a:prstGeom prst="roundRect">
            <a:avLst>
              <a:gd name="adj" fmla="val 45455"/>
            </a:avLst>
          </a:prstGeom>
          <a:solidFill>
            <a:srgbClr val="14213D"/>
          </a:solidFill>
          <a:ln/>
        </p:spPr>
      </p:sp>
      <p:sp>
        <p:nvSpPr>
          <p:cNvPr id="53" name="Text 46"/>
          <p:cNvSpPr/>
          <p:nvPr/>
        </p:nvSpPr>
        <p:spPr>
          <a:xfrm>
            <a:off x="4956048" y="5010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Goal Test passes</a:t>
            </a:r>
            <a:endParaRPr lang="en-US" sz="1050" dirty="0"/>
          </a:p>
        </p:txBody>
      </p:sp>
      <p:sp>
        <p:nvSpPr>
          <p:cNvPr id="54" name="Text 47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6" name="Text 49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E2E5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1E2E5C"/>
          </a:solidFill>
          <a:ln/>
        </p:spPr>
      </p:sp>
      <p:sp>
        <p:nvSpPr>
          <p:cNvPr id="4" name="Shape 2"/>
          <p:cNvSpPr/>
          <p:nvPr/>
        </p:nvSpPr>
        <p:spPr>
          <a:xfrm>
            <a:off x="5541264" y="50292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/home/claude/work/icons/brain_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4474" y="58613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234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64592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these is NOT a component of Problem Formulation?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81228" y="26974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E2E5C"/>
          </a:solidFill>
          <a:ln/>
        </p:spPr>
      </p:sp>
      <p:sp>
        <p:nvSpPr>
          <p:cNvPr id="9" name="Text 6"/>
          <p:cNvSpPr/>
          <p:nvPr/>
        </p:nvSpPr>
        <p:spPr>
          <a:xfrm>
            <a:off x="864108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4108" y="3337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451860" y="26974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E2E5C"/>
          </a:solidFill>
          <a:ln/>
        </p:spPr>
      </p:sp>
      <p:sp>
        <p:nvSpPr>
          <p:cNvPr id="12" name="Text 9"/>
          <p:cNvSpPr/>
          <p:nvPr/>
        </p:nvSpPr>
        <p:spPr>
          <a:xfrm>
            <a:off x="363474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634740" y="3337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Cost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22492" y="26974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/>
        </p:spPr>
      </p:sp>
      <p:sp>
        <p:nvSpPr>
          <p:cNvPr id="15" name="Text 12"/>
          <p:cNvSpPr/>
          <p:nvPr/>
        </p:nvSpPr>
        <p:spPr>
          <a:xfrm>
            <a:off x="6405372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5372" y="3337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79892" y="2834640"/>
            <a:ext cx="329184" cy="32918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8" name="Image 1" descr="/home/claude/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686" y="2877434"/>
            <a:ext cx="243596" cy="24359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993124" y="26974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E2E5C"/>
          </a:solidFill>
          <a:ln/>
        </p:spPr>
      </p:sp>
      <p:sp>
        <p:nvSpPr>
          <p:cNvPr id="20" name="Text 16"/>
          <p:cNvSpPr/>
          <p:nvPr/>
        </p:nvSpPr>
        <p:spPr>
          <a:xfrm>
            <a:off x="9176004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9176004" y="3337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2194560" y="4434840"/>
            <a:ext cx="77998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55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2468880" y="4617720"/>
            <a:ext cx="7251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— Learning Rate.  </a:t>
            </a:r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is a machine-learning training setting. Problem formulation only needs the initial state, actions, transition model, goal test, and path cost.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2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1E2E5C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303520"/>
            <a:ext cx="2926080" cy="2926080"/>
          </a:xfrm>
          <a:prstGeom prst="ellipse">
            <a:avLst/>
          </a:prstGeom>
          <a:solidFill>
            <a:srgbClr val="1E2E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are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/home/claude/wor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4231843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4142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Mathematics, CSJM University, Kanpur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685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THE RIDDLE, ANSWERED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37960" y="1143000"/>
            <a:ext cx="5029200" cy="4160520"/>
          </a:xfrm>
          <a:prstGeom prst="roundRect">
            <a:avLst>
              <a:gd name="adj" fmla="val 2637"/>
            </a:avLst>
          </a:prstGeom>
          <a:solidFill>
            <a:srgbClr val="14213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41732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always finds the cheese.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reflex mouse, reacting turn by turn, can easily take the wrong path. But a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agent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formulates the maze as states and actions, then searches the whole space with a method like A*.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34290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plans before it moves, it never wastes a wrong turn — it finds the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to the cheese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every single time.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Kushwaha  ·  Department of Mathematics  ·  CSJM University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1475720" y="6473952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1147572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2026-08-06T01:27:48Z</dcterms:created>
  <dcterms:modified xsi:type="dcterms:W3CDTF">2026-08-06T01:27:48Z</dcterms:modified>
</cp:coreProperties>
</file>